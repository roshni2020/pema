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2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3DDC97"/>
                </a:solidFill>
                <a:latin typeface="Segoe UI" panose="020B0502040204020203"/>
              </a:rPr>
              <a:t>QUALCOMM TRACK  ·  AI INFRA SUMMIT HACKATHON 2026</a:t>
            </a:r>
            <a:endParaRPr sz="1400" b="1">
              <a:solidFill>
                <a:srgbClr val="3DDC97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6600" b="1">
                <a:solidFill>
                  <a:srgbClr val="E8EBF1"/>
                </a:solidFill>
                <a:latin typeface="Segoe UI" panose="020B0502040204020203"/>
              </a:rPr>
              <a:t>PEMA</a:t>
            </a:r>
            <a:endParaRPr sz="6600" b="1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0">
                <a:solidFill>
                  <a:srgbClr val="E8EBF1"/>
                </a:solidFill>
                <a:latin typeface="Segoe UI" panose="020B0502040204020203"/>
              </a:rPr>
              <a:t>Personal Environmental Memory Agent</a:t>
            </a:r>
            <a:endParaRPr sz="3200" b="0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8B95A7"/>
                </a:solidFill>
                <a:latin typeface="Segoe UI" panose="020B0502040204020203"/>
              </a:rPr>
              <a:t>A private, on-device memory of your room for people with low vision or memory loss. Arduino UNO Q (Qualcomm Dragonwing) + Snapdragon Hexagon NPU via GenieX + STM32.</a:t>
            </a:r>
            <a:endParaRPr sz="16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E8EBF1"/>
                </a:solidFill>
                <a:latin typeface="Segoe UI" panose="020B0502040204020203"/>
              </a:rPr>
              <a:t>Done by Roshni</a:t>
            </a:r>
            <a:endParaRPr sz="2200" b="1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PEMA · Qualcomm track · AI Infra Summit Hackathon 2026 · Roshni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1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E8EBF1"/>
                </a:solidFill>
                <a:latin typeface="Segoe UI" panose="020B0502040204020203"/>
              </a:rPr>
              <a:t>What it is: one loop, not a feature list</a:t>
            </a:r>
            <a:endParaRPr sz="3000" b="1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393192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DDC97"/>
                </a:solidFill>
                <a:latin typeface="Segoe UI" panose="020B0502040204020203"/>
              </a:rPr>
              <a:t>For 2 billion people with vision impairment, 55 M with dementia</a:t>
            </a:r>
            <a:endParaRPr sz="1600" b="1">
              <a:solidFill>
                <a:srgbClr val="3DDC97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 panose="020B0502040204020203"/>
              </a:rPr>
              <a:t>1  Identify locally: name + passphrase on the board. No face data.</a:t>
            </a:r>
            <a:endParaRPr sz="13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 panose="020B0502040204020203"/>
              </a:rPr>
              <a:t>2  Remember: YOLOX on the Arduino's Qualcomm chip; where each object was, its usual spot.</a:t>
            </a:r>
            <a:endParaRPr sz="13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 panose="020B0502040204020203"/>
              </a:rPr>
              <a:t>3  Notice change: leave and return → "your keys moved from your left to your right."</a:t>
            </a:r>
            <a:endParaRPr sz="13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 panose="020B0502040204020203"/>
              </a:rPr>
              <a:t>4  Act: a planner on the Hexagon NPU picks tools: memory, vision, hardware, speech.</a:t>
            </a:r>
            <a:endParaRPr sz="13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 panose="020B0502040204020203"/>
              </a:rPr>
              <a:t>5  Verify: every action is read back from the STM32 before it is claimed.</a:t>
            </a:r>
            <a:endParaRPr sz="1300" b="0">
              <a:solidFill>
                <a:srgbClr val="E8EBF1"/>
              </a:solidFill>
              <a:latin typeface="Segoe UI" panose="020B0502040204020203"/>
            </a:endParaRPr>
          </a:p>
        </p:txBody>
      </p:sp>
      <p:pic>
        <p:nvPicPr>
          <p:cNvPr id="8" name="Picture 7" descr="log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188720"/>
            <a:ext cx="5669280" cy="3543300"/>
          </a:xfrm>
          <a:prstGeom prst="rect">
            <a:avLst/>
          </a:prstGeom>
        </p:spPr>
      </p:pic>
      <p:pic>
        <p:nvPicPr>
          <p:cNvPr id="9" name="Picture 8" descr="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3429000"/>
            <a:ext cx="5669280" cy="3543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PEMA · Qualcomm track · AI Infra Summit Hackathon 2026 · Roshni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2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E8EBF1"/>
                </a:solidFill>
                <a:latin typeface="Segoe UI" panose="020B0502040204020203"/>
              </a:rPr>
              <a:t>Architecture</a:t>
            </a:r>
            <a:endParaRPr sz="3000" b="1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8B95A7"/>
                </a:solidFill>
                <a:latin typeface="Segoe UI" panose="020B0502040204020203"/>
              </a:rPr>
              <a:t>Qualcomm silicon does perception, memory and reasoning · the Arduino STM32 does real-time sensing and verified actuation · everything on the local network</a:t>
            </a:r>
            <a:endParaRPr sz="12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194560" cy="1920240"/>
          </a:xfrm>
          <a:prstGeom prst="roundRect">
            <a:avLst>
              <a:gd name="adj" fmla="val 8000"/>
            </a:avLst>
          </a:prstGeom>
          <a:solidFill>
            <a:srgbClr val="161B25"/>
          </a:solidFill>
          <a:ln w="19050">
            <a:solidFill>
              <a:srgbClr val="8B95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179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8B95A7"/>
                </a:solidFill>
                <a:latin typeface="Segoe UI" panose="020B0502040204020203"/>
              </a:rPr>
              <a:t>Browser (laptop / phone)</a:t>
            </a:r>
            <a:endParaRPr sz="1300" b="1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1998853"/>
            <a:ext cx="2011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dashboard: 3D room map, camera, timeline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webcam → 480 px JPEG frames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voice in / voice out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sign in · rooms · video upload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017520" y="1463040"/>
            <a:ext cx="3291840" cy="3566160"/>
          </a:xfrm>
          <a:prstGeom prst="roundRect">
            <a:avLst>
              <a:gd name="adj" fmla="val 8000"/>
            </a:avLst>
          </a:prstGeom>
          <a:solidFill>
            <a:srgbClr val="161B25"/>
          </a:solidFill>
          <a:ln w="19050">
            <a:solidFill>
              <a:srgbClr val="6A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7248" y="151790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6AB3FF"/>
                </a:solidFill>
                <a:latin typeface="Segoe UI" panose="020B0502040204020203"/>
              </a:rPr>
              <a:t>Arduino UNO Q · Qualcomm Dragonwing QRB2210 (Linux)</a:t>
            </a:r>
            <a:endParaRPr sz="1300" b="1">
              <a:solidFill>
                <a:srgbClr val="6AB3FF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273" y="2194433"/>
            <a:ext cx="310896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PERCEPTION  YOLOX-nano int8, 80 classes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MEMORY  last seen · usual spot · trail (JSON)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PRESENCE  left / returned → what changed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SAFETY  rules + action whitelist (veto)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PLANNER LOOP  orchestrates the agents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ROOM MAP  fixtures from scans, per room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HISTORY  SQLite: sightings, events, actions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WebUI server (socket.io)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675120" y="1463040"/>
            <a:ext cx="2926080" cy="2377440"/>
          </a:xfrm>
          <a:prstGeom prst="roundRect">
            <a:avLst>
              <a:gd name="adj" fmla="val 8000"/>
            </a:avLst>
          </a:prstGeom>
          <a:solidFill>
            <a:srgbClr val="161B25"/>
          </a:solidFill>
          <a:ln w="1905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5179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3DDC97"/>
                </a:solidFill>
                <a:latin typeface="Segoe UI" panose="020B0502040204020203"/>
              </a:rPr>
              <a:t>Snapdragon X Elite · Hexagon NPU · GenieX</a:t>
            </a:r>
            <a:endParaRPr sz="1300" b="1">
              <a:solidFill>
                <a:srgbClr val="3DDC97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74993" y="2194433"/>
            <a:ext cx="2743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Qwen3.5-2B Q4_0, text + vision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PLANNER  1 tool per step, GBNF grammar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VISION  scene questions, room fixtures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OpenAI-compatible server (npu_server.py)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profile per call: HTP0 · tok/s · TTFT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966960" y="1463040"/>
            <a:ext cx="1828800" cy="2377440"/>
          </a:xfrm>
          <a:prstGeom prst="roundRect">
            <a:avLst>
              <a:gd name="adj" fmla="val 8000"/>
            </a:avLst>
          </a:prstGeom>
          <a:solidFill>
            <a:srgbClr val="161B25"/>
          </a:solidFill>
          <a:ln w="19050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76688" y="151790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B020"/>
                </a:solidFill>
                <a:latin typeface="Segoe UI" panose="020B0502040204020203"/>
              </a:rPr>
              <a:t>Arduino STM32U585 (Zephyr)</a:t>
            </a:r>
            <a:endParaRPr sz="1300" b="1">
              <a:solidFill>
                <a:srgbClr val="FFB020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76815" y="2102485"/>
            <a:ext cx="1645920" cy="17106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sensors every 1 s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LED matrix · buzzer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relay · servo · LED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get_state readback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 panose="020B0502040204020203"/>
              </a:rPr>
              <a:t>over-temp interlock</a:t>
            </a:r>
            <a:endParaRPr sz="1050" b="0">
              <a:solidFill>
                <a:srgbClr val="E8EBF1"/>
              </a:solidFill>
              <a:latin typeface="Segoe UI" panose="020B0502040204020203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2651760" y="2103120"/>
            <a:ext cx="365760" cy="0"/>
          </a:xfrm>
          <a:prstGeom prst="line">
            <a:avLst/>
          </a:prstGeom>
          <a:ln w="25400">
            <a:solidFill>
              <a:srgbClr val="8B95A7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361162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950" b="0">
                <a:solidFill>
                  <a:srgbClr val="8B95A7"/>
                </a:solidFill>
                <a:latin typeface="Segoe UI" panose="020B0502040204020203"/>
              </a:rPr>
              <a:t>frames · commands</a:t>
            </a:r>
            <a:endParaRPr sz="950" b="0">
              <a:solidFill>
                <a:srgbClr val="8B95A7"/>
              </a:solidFill>
              <a:latin typeface="Segoe UI" panose="020B0502040204020203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6309360" y="2286000"/>
            <a:ext cx="365760" cy="0"/>
          </a:xfrm>
          <a:prstGeom prst="line">
            <a:avLst/>
          </a:prstGeom>
          <a:ln w="25400">
            <a:solidFill>
              <a:srgbClr val="3DDC97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80860" y="45730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950" b="0">
                <a:solidFill>
                  <a:srgbClr val="8B95A7"/>
                </a:solidFill>
                <a:latin typeface="Segoe UI" panose="020B0502040204020203"/>
              </a:rPr>
              <a:t>snapshot + frame ↔ plan</a:t>
            </a:r>
            <a:endParaRPr sz="950" b="0">
              <a:solidFill>
                <a:srgbClr val="8B95A7"/>
              </a:solidFill>
              <a:latin typeface="Segoe UI" panose="020B0502040204020203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9601200" y="2926080"/>
            <a:ext cx="365760" cy="0"/>
          </a:xfrm>
          <a:prstGeom prst="line">
            <a:avLst/>
          </a:prstGeom>
          <a:ln w="25400">
            <a:solidFill>
              <a:srgbClr val="FFB02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784080" y="45730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950" b="0">
                <a:solidFill>
                  <a:srgbClr val="8B95A7"/>
                </a:solidFill>
                <a:latin typeface="Segoe UI" panose="020B0502040204020203"/>
              </a:rPr>
              <a:t>Bridge RPC ↔ verified</a:t>
            </a:r>
            <a:endParaRPr sz="95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7512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8B95A7"/>
                </a:solidFill>
                <a:latin typeface="Segoe UI" panose="020B0502040204020203"/>
              </a:rPr>
              <a:t>board ↔ laptop over USB (adb reverse + relay). Swap the URL to run on a Dragonwing board with its own NPU.</a:t>
            </a:r>
            <a:endParaRPr sz="95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6696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8B95A7"/>
                </a:solidFill>
                <a:latin typeface="Segoe UI" panose="020B0502040204020203"/>
              </a:rPr>
              <a:t>actions only through the whitelist; MCU state read back before any claim</a:t>
            </a:r>
            <a:endParaRPr sz="95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53035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8B95A7"/>
                </a:solidFill>
                <a:latin typeface="Segoe UI" panose="020B0502040204020203"/>
              </a:rPr>
              <a:t>Agents per request</a:t>
            </a:r>
            <a:endParaRPr sz="1100" b="1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011680" y="5349240"/>
            <a:ext cx="1325880" cy="457200"/>
          </a:xfrm>
          <a:prstGeom prst="roundRect">
            <a:avLst/>
          </a:prstGeom>
          <a:solidFill>
            <a:srgbClr val="161B25"/>
          </a:solidFill>
          <a:ln w="19050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80" y="5422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B020"/>
                </a:solidFill>
                <a:latin typeface="Segoe UI" panose="020B0502040204020203"/>
              </a:rPr>
              <a:t>SAFETY</a:t>
            </a:r>
            <a:endParaRPr sz="1100" b="1">
              <a:solidFill>
                <a:srgbClr val="FFB020"/>
              </a:solidFill>
              <a:latin typeface="Segoe UI" panose="020B0502040204020203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3337560" y="5577840"/>
            <a:ext cx="274320" cy="0"/>
          </a:xfrm>
          <a:prstGeom prst="line">
            <a:avLst/>
          </a:prstGeom>
          <a:ln w="25400">
            <a:solidFill>
              <a:srgbClr val="8B95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611880" y="5349240"/>
            <a:ext cx="1325880" cy="457200"/>
          </a:xfrm>
          <a:prstGeom prst="roundRect">
            <a:avLst/>
          </a:prstGeom>
          <a:solidFill>
            <a:srgbClr val="161B25"/>
          </a:solidFill>
          <a:ln w="19050">
            <a:solidFill>
              <a:srgbClr val="6A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80" y="5422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6AB3FF"/>
                </a:solidFill>
                <a:latin typeface="Segoe UI" panose="020B0502040204020203"/>
              </a:rPr>
              <a:t>PLANNER</a:t>
            </a:r>
            <a:endParaRPr sz="1100" b="1">
              <a:solidFill>
                <a:srgbClr val="6AB3FF"/>
              </a:solidFill>
              <a:latin typeface="Segoe UI" panose="020B0502040204020203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4937760" y="5577840"/>
            <a:ext cx="274320" cy="0"/>
          </a:xfrm>
          <a:prstGeom prst="line">
            <a:avLst/>
          </a:prstGeom>
          <a:ln w="25400">
            <a:solidFill>
              <a:srgbClr val="8B95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212080" y="5349240"/>
            <a:ext cx="1325880" cy="457200"/>
          </a:xfrm>
          <a:prstGeom prst="roundRect">
            <a:avLst/>
          </a:prstGeom>
          <a:solidFill>
            <a:srgbClr val="161B25"/>
          </a:solidFill>
          <a:ln w="19050">
            <a:solidFill>
              <a:srgbClr val="7F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5422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7FE3E3"/>
                </a:solidFill>
                <a:latin typeface="Segoe UI" panose="020B0502040204020203"/>
              </a:rPr>
              <a:t>MEMORY</a:t>
            </a:r>
            <a:endParaRPr sz="1100" b="1">
              <a:solidFill>
                <a:srgbClr val="7FE3E3"/>
              </a:solidFill>
              <a:latin typeface="Segoe UI" panose="020B0502040204020203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6537960" y="5577840"/>
            <a:ext cx="274320" cy="0"/>
          </a:xfrm>
          <a:prstGeom prst="line">
            <a:avLst/>
          </a:prstGeom>
          <a:ln w="25400">
            <a:solidFill>
              <a:srgbClr val="8B95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812280" y="5349240"/>
            <a:ext cx="1325880" cy="457200"/>
          </a:xfrm>
          <a:prstGeom prst="roundRect">
            <a:avLst/>
          </a:prstGeom>
          <a:solidFill>
            <a:srgbClr val="161B25"/>
          </a:solidFill>
          <a:ln w="19050">
            <a:solidFill>
              <a:srgbClr val="C3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5422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C39BFF"/>
                </a:solidFill>
                <a:latin typeface="Segoe UI" panose="020B0502040204020203"/>
              </a:rPr>
              <a:t>VISION</a:t>
            </a:r>
            <a:endParaRPr sz="1100" b="1">
              <a:solidFill>
                <a:srgbClr val="C39BFF"/>
              </a:solidFill>
              <a:latin typeface="Segoe UI" panose="020B0502040204020203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8138160" y="5577840"/>
            <a:ext cx="274320" cy="0"/>
          </a:xfrm>
          <a:prstGeom prst="line">
            <a:avLst/>
          </a:prstGeom>
          <a:ln w="25400">
            <a:solidFill>
              <a:srgbClr val="8B95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412480" y="5349240"/>
            <a:ext cx="1325880" cy="457200"/>
          </a:xfrm>
          <a:prstGeom prst="roundRect">
            <a:avLst/>
          </a:prstGeom>
          <a:solidFill>
            <a:srgbClr val="161B25"/>
          </a:solidFill>
          <a:ln w="19050">
            <a:solidFill>
              <a:srgbClr val="FFD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5422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D479"/>
                </a:solidFill>
                <a:latin typeface="Segoe UI" panose="020B0502040204020203"/>
              </a:rPr>
              <a:t>HARDWARE</a:t>
            </a:r>
            <a:endParaRPr sz="1100" b="1">
              <a:solidFill>
                <a:srgbClr val="FFD479"/>
              </a:solidFill>
              <a:latin typeface="Segoe UI" panose="020B0502040204020203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9738360" y="5577840"/>
            <a:ext cx="274320" cy="0"/>
          </a:xfrm>
          <a:prstGeom prst="line">
            <a:avLst/>
          </a:prstGeom>
          <a:ln w="25400">
            <a:solidFill>
              <a:srgbClr val="8B95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012680" y="5349240"/>
            <a:ext cx="1325880" cy="457200"/>
          </a:xfrm>
          <a:prstGeom prst="roundRect">
            <a:avLst/>
          </a:prstGeom>
          <a:solidFill>
            <a:srgbClr val="161B25"/>
          </a:solidFill>
          <a:ln w="1905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12680" y="5422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3DDC97"/>
                </a:solidFill>
                <a:latin typeface="Segoe UI" panose="020B0502040204020203"/>
              </a:rPr>
              <a:t>SPEECH</a:t>
            </a:r>
            <a:endParaRPr sz="1100" b="1">
              <a:solidFill>
                <a:srgbClr val="3DDC97"/>
              </a:solidFill>
              <a:latin typeface="Segoe UI" panose="020B0502040204020203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011680" y="58978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safety runs first and can veto · planner loops up to 4 steps, one tool each · memory and hardware are deterministic code · planner and vision run on the NPU · every step is shown in the trace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PEMA · Qualcomm track · AI Infra Summit Hackathon 2026 · Roshni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3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E8EBF1"/>
                </a:solidFill>
                <a:latin typeface="Segoe UI" panose="020B0502040204020203"/>
              </a:rPr>
              <a:t>The pipeline</a:t>
            </a:r>
            <a:endParaRPr sz="3000" b="1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2286000" cy="32004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73152" cy="2926080"/>
          </a:xfrm>
          <a:prstGeom prst="rect">
            <a:avLst/>
          </a:prstGeom>
          <a:solidFill>
            <a:srgbClr val="8B9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8B95A7"/>
                </a:solidFill>
                <a:latin typeface="Segoe UI" panose="020B0502040204020203"/>
              </a:rPr>
              <a:t>Camera (laptop / phone)</a:t>
            </a:r>
            <a:endParaRPr sz="1600" b="1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920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480 px JPEG every ~1.5 s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browser, local network only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898648" y="1188720"/>
            <a:ext cx="3017520" cy="32004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98648" y="1325880"/>
            <a:ext cx="73152" cy="2926080"/>
          </a:xfrm>
          <a:prstGeom prst="rect">
            <a:avLst/>
          </a:prstGeom>
          <a:solidFill>
            <a:srgbClr val="6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1280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6AB3FF"/>
                </a:solidFill>
                <a:latin typeface="Segoe UI" panose="020B0502040204020203"/>
              </a:rPr>
              <a:t>Arduino UNO Q · Qualcomm Dragonwing</a:t>
            </a:r>
            <a:endParaRPr sz="1600" b="1">
              <a:solidFill>
                <a:srgbClr val="6AB3FF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27248" y="2320290"/>
            <a:ext cx="2651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YOLOX-nano int8, 80 classes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object memory + usual spots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presence + change detection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safety rules + whitelist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SQLite history, dashboard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025896" y="1188720"/>
            <a:ext cx="3200400" cy="32004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25896" y="1325880"/>
            <a:ext cx="73152" cy="292608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12801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DDC97"/>
                </a:solidFill>
                <a:latin typeface="Segoe UI" panose="020B0502040204020203"/>
              </a:rPr>
              <a:t>Snapdragon X Elite · Hexagon NPU · GenieX</a:t>
            </a:r>
            <a:endParaRPr sz="1600" b="1">
              <a:solidFill>
                <a:srgbClr val="3DDC97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54496" y="220472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Qwen3.5-2B Q4_0, text + vision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planner: 1 tool per step, GBNF grammar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vision: scene questions, room fixtures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profile per call: device, tok/s, TTFT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336024" y="1188720"/>
            <a:ext cx="2743200" cy="32004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6024" y="1325880"/>
            <a:ext cx="73152" cy="292608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64624" y="1280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B020"/>
                </a:solidFill>
                <a:latin typeface="Segoe UI" panose="020B0502040204020203"/>
              </a:rPr>
              <a:t>Arduino STM32U585</a:t>
            </a:r>
            <a:endParaRPr sz="1600" b="1">
              <a:solidFill>
                <a:srgbClr val="FFB020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64624" y="16916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sensors every second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matrix · buzzer · relay · servo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get_state readback = verified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 panose="020B0502040204020203"/>
              </a:rPr>
              <a:t>local over-temp interlock</a:t>
            </a:r>
            <a:endParaRPr sz="1200" b="0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8B95A7"/>
                </a:solidFill>
                <a:latin typeface="Segoe UI" panose="020B0502040204020203"/>
              </a:rPr>
              <a:t>Agents, each step visible in the trace:  safety → planner → memory / vision / hardware → speech</a:t>
            </a:r>
            <a:endParaRPr sz="1400" b="0">
              <a:solidFill>
                <a:srgbClr val="8B95A7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8B95A7"/>
                </a:solidFill>
                <a:latin typeface="Segoe UI" panose="020B0502040204020203"/>
              </a:rPr>
              <a:t>Board ↔ laptop over USB. Nothing leaves the local network. Same code runs with the model on a Dragonwing board with its own NPU (one URL).</a:t>
            </a:r>
            <a:endParaRPr sz="14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PEMA · Qualcomm track · AI Infra Summit Hackathon 2026 · Roshni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4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E8EBF1"/>
                </a:solidFill>
                <a:latin typeface="Segoe UI" panose="020B0502040204020203"/>
              </a:rPr>
              <a:t>Checking the NPU: measured, not assumed</a:t>
            </a:r>
            <a:endParaRPr sz="3000" b="1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201168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DDC97"/>
                </a:solidFill>
                <a:latin typeface="Segoe UI" panose="020B0502040204020203"/>
              </a:rPr>
              <a:t>Per-request proof (GenieX profile)</a:t>
            </a:r>
            <a:endParaRPr sz="1600" b="1">
              <a:solidFill>
                <a:srgbClr val="3DDC97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 panose="020B0502040204020203"/>
              </a:rPr>
              <a:t>device = HTP0 (Hexagon), backend = llama.cpp, on every planner step</a:t>
            </a:r>
            <a:endParaRPr sz="13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 panose="020B0502040204020203"/>
              </a:rPr>
              <a:t>tokens/s, first token, prompt tokens shown live on the dashboard</a:t>
            </a:r>
            <a:endParaRPr sz="13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 panose="020B0502040204020203"/>
              </a:rPr>
              <a:t>Task Manager NPU graph spikes during each answer</a:t>
            </a:r>
            <a:endParaRPr sz="1300" b="0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325880"/>
            <a:ext cx="73152" cy="2011680"/>
          </a:xfrm>
          <a:prstGeom prst="rect">
            <a:avLst/>
          </a:prstGeom>
          <a:solidFill>
            <a:srgbClr val="6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6AB3FF"/>
                </a:solidFill>
                <a:latin typeface="Segoe UI" panose="020B0502040204020203"/>
              </a:rPr>
              <a:t>Benchmark, same 0.8B Q4_0 model</a:t>
            </a:r>
            <a:endParaRPr sz="1600" b="1">
              <a:solidFill>
                <a:srgbClr val="6AB3FF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 panose="020B0502040204020203"/>
              </a:rPr>
              <a:t>NPU   prefill 297 tok/s · TTFT 0.13 s · decode 17.7</a:t>
            </a:r>
            <a:endParaRPr sz="13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 panose="020B0502040204020203"/>
              </a:rPr>
              <a:t>GPU   prefill 316 tok/s · TTFT 0.12 s · decode 51.5</a:t>
            </a:r>
            <a:endParaRPr sz="13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 panose="020B0502040204020203"/>
              </a:rPr>
              <a:t>CPU   prefill  24 tok/s · TTFT 1.60 s · decode 65.9</a:t>
            </a:r>
            <a:endParaRPr sz="13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 panose="020B0502040204020203"/>
              </a:rPr>
              <a:t>Agent steps are prompt-heavy: the NPU wins where it matters</a:t>
            </a:r>
            <a:endParaRPr sz="1300" b="0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10972800" cy="219456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794760"/>
            <a:ext cx="73152" cy="192024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490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B020"/>
                </a:solidFill>
                <a:latin typeface="Segoe UI" panose="020B0502040204020203"/>
              </a:rPr>
              <a:t>Inference optimisation</a:t>
            </a:r>
            <a:endParaRPr sz="1600" b="1">
              <a:solidFill>
                <a:srgbClr val="FFB020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10607040" cy="120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lang="en-US" altLang="en-US" sz="1200" b="0">
                <a:solidFill>
                  <a:srgbClr val="E8EBF1"/>
                </a:solidFill>
                <a:latin typeface="Segoe UI" panose="020B0502040204020203"/>
              </a:rPr>
              <a:t>Smaller model: a 4-bit version of Qwen3.5-2B, so it fits and runs on the NPU.</a:t>
            </a:r>
            <a:endParaRPr lang="en-US" altLang="en-US"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lang="en-US" altLang="en-US" sz="1200" b="0">
                <a:solidFill>
                  <a:srgbClr val="E8EBF1"/>
                </a:solidFill>
                <a:latin typeface="Segoe UI" panose="020B0502040204020203"/>
              </a:rPr>
              <a:t>Fixed answer format: the model can only produce a valid command, so no broken answers, no retries, short outputs.</a:t>
            </a:r>
            <a:endParaRPr lang="en-US" altLang="en-US"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lang="en-US" altLang="en-US" sz="1200" b="0">
                <a:solidFill>
                  <a:srgbClr val="E8EBF1"/>
                </a:solidFill>
                <a:latin typeface="Segoe UI" panose="020B0502040204020203"/>
              </a:rPr>
              <a:t>Less work per question: one model for thinking and seeing, short inputs, at most 4 steps and one camera look, smaller images one at a time.</a:t>
            </a:r>
            <a:endParaRPr lang="en-US" altLang="en-US" sz="1200" b="0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lang="en-US" altLang="en-US" sz="1200" b="0">
                <a:solidFill>
                  <a:srgbClr val="E8EBF1"/>
                </a:solidFill>
                <a:latin typeface="Segoe UI" panose="020B0502040204020203"/>
              </a:rPr>
              <a:t>Measured, not assumed: every answer shows the chip and speed on screen; NPU vs GPU vs CPU benchmarked, and Qualcomm's faster pre-built model tested but not shipped because it can't use the fixed format yet.</a:t>
            </a:r>
            <a:endParaRPr lang="en-US" altLang="en-US" sz="1200" b="0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PEMA · Qualcomm track · AI Infra Summit Hackathon 2026 · Roshni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5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yste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530352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685" y="738505"/>
            <a:ext cx="5486400" cy="46755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algn="l"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en-US" sz="1400" b="1">
                <a:solidFill>
                  <a:srgbClr val="E8EBF1"/>
                </a:solidFill>
                <a:latin typeface="Segoe UI" panose="020B0502040204020203"/>
              </a:rPr>
              <a:t>Agents involved </a:t>
            </a:r>
            <a:endParaRPr lang="en-US" altLang="en-US" sz="1400" b="1">
              <a:solidFill>
                <a:srgbClr val="E8EBF1"/>
              </a:solidFill>
              <a:latin typeface="Segoe UI" panose="020B0502040204020203"/>
            </a:endParaRPr>
          </a:p>
          <a:p>
            <a:pPr marL="171450" indent="-1714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rgbClr val="E8EBF1"/>
                </a:solidFill>
                <a:latin typeface="Segoe UI" panose="020B0502040204020203"/>
              </a:rPr>
              <a:t>Six agents handle every request, in order, and the trace panel shows each step.</a:t>
            </a:r>
            <a:endParaRPr lang="en-US" altLang="en-US" sz="1400" b="1">
              <a:solidFill>
                <a:srgbClr val="E8EBF1"/>
              </a:solidFill>
              <a:latin typeface="Segoe UI" panose="020B0502040204020203"/>
            </a:endParaRPr>
          </a:p>
          <a:p>
            <a:pPr marL="171450" indent="-1714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rgbClr val="E8EBF1"/>
                </a:solidFill>
                <a:latin typeface="Segoe UI" panose="020B0502040204020203"/>
              </a:rPr>
              <a:t>Safety runs first: plain rules, can act or veto, no AI.</a:t>
            </a:r>
            <a:endParaRPr lang="en-US" altLang="en-US" sz="1400" b="1">
              <a:solidFill>
                <a:srgbClr val="E8EBF1"/>
              </a:solidFill>
              <a:latin typeface="Segoe UI" panose="020B0502040204020203"/>
            </a:endParaRPr>
          </a:p>
          <a:p>
            <a:pPr marL="171450" indent="-1714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rgbClr val="E8EBF1"/>
                </a:solidFill>
                <a:latin typeface="Segoe UI" panose="020B0502040204020203"/>
              </a:rPr>
              <a:t>Planner: the AI model on the Hexagon NPU, picks one helper at a time, up to four steps.</a:t>
            </a:r>
            <a:endParaRPr lang="en-US" altLang="en-US" sz="1400" b="1">
              <a:solidFill>
                <a:srgbClr val="E8EBF1"/>
              </a:solidFill>
              <a:latin typeface="Segoe UI" panose="020B0502040204020203"/>
            </a:endParaRPr>
          </a:p>
          <a:p>
            <a:pPr marL="171450" indent="-1714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rgbClr val="E8EBF1"/>
                </a:solidFill>
                <a:latin typeface="Segoe UI" panose="020B0502040204020203"/>
              </a:rPr>
              <a:t>Memory: the notebook on the Arduino, answers "where is it" without AI.</a:t>
            </a:r>
            <a:endParaRPr lang="en-US" altLang="en-US" sz="1400" b="1">
              <a:solidFill>
                <a:srgbClr val="E8EBF1"/>
              </a:solidFill>
              <a:latin typeface="Segoe UI" panose="020B0502040204020203"/>
            </a:endParaRPr>
          </a:p>
          <a:p>
            <a:pPr marL="171450" indent="-1714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rgbClr val="E8EBF1"/>
                </a:solidFill>
                <a:latin typeface="Segoe UI" panose="020B0502040204020203"/>
              </a:rPr>
              <a:t>Vision: the model on the NPU looks at the camera frame when asked.</a:t>
            </a:r>
            <a:endParaRPr lang="en-US" altLang="en-US" sz="1400" b="1">
              <a:solidFill>
                <a:srgbClr val="E8EBF1"/>
              </a:solidFill>
              <a:latin typeface="Segoe UI" panose="020B0502040204020203"/>
            </a:endParaRPr>
          </a:p>
          <a:p>
            <a:pPr marL="171450" indent="-1714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rgbClr val="E8EBF1"/>
                </a:solidFill>
                <a:latin typeface="Segoe UI" panose="020B0502040204020203"/>
              </a:rPr>
              <a:t>Hardware: the STM32 acts, then is read back to confirm it happened.</a:t>
            </a:r>
            <a:endParaRPr lang="en-US" altLang="en-US" sz="1400" b="1">
              <a:solidFill>
                <a:srgbClr val="E8EBF1"/>
              </a:solidFill>
              <a:latin typeface="Segoe UI" panose="020B0502040204020203"/>
            </a:endParaRPr>
          </a:p>
          <a:p>
            <a:pPr marL="171450" indent="-1714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1400" b="1">
                <a:solidFill>
                  <a:srgbClr val="E8EBF1"/>
                </a:solidFill>
                <a:latin typeface="Segoe UI" panose="020B0502040204020203"/>
              </a:rPr>
              <a:t>Speech: says the final answer out loud.</a:t>
            </a:r>
            <a:endParaRPr lang="en-US" altLang="en-US" sz="1400" b="1">
              <a:solidFill>
                <a:srgbClr val="E8EBF1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lang="en-US" altLang="en-US" sz="1000" b="1">
                <a:solidFill>
                  <a:srgbClr val="E8EBF1"/>
                </a:solidFill>
                <a:latin typeface="Segoe UI" panose="020B0502040204020203"/>
              </a:rPr>
              <a:t>Two are AI, four are code: the AI decides, the code guarantees</a:t>
            </a:r>
            <a:r>
              <a:rPr lang="en-US" altLang="en-US" sz="2600" b="1">
                <a:solidFill>
                  <a:srgbClr val="E8EBF1"/>
                </a:solidFill>
                <a:latin typeface="Segoe UI" panose="020B0502040204020203"/>
              </a:rPr>
              <a:t>.</a:t>
            </a:r>
            <a:endParaRPr lang="en-US" altLang="en-US" sz="2600" b="1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PEMA · Qualcomm track · AI Infra Summit Hackathon 2026 · Roshni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6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685" y="1280160"/>
            <a:ext cx="9727565" cy="44310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algn="l">
              <a:spcAft>
                <a:spcPts val="500"/>
              </a:spcAft>
              <a:buFont typeface="Arial" panose="020B0604020202020204" pitchFamily="34" charset="0"/>
              <a:buNone/>
            </a:pPr>
            <a:endParaRPr lang="en-US" altLang="en-US" sz="1600" b="1">
              <a:solidFill>
                <a:srgbClr val="E8EBF1"/>
              </a:solidFill>
              <a:latin typeface="Segoe UI" panose="020B0502040204020203"/>
            </a:endParaRP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rgbClr val="E8EBF1"/>
                </a:solidFill>
                <a:latin typeface="Segoe UI" panose="020B0502040204020203"/>
              </a:rPr>
              <a:t>It's the engine that runs the AI model on the Qualcomm NPU. Without it, the model would run on the CPU, slowly, or in the cloud.</a:t>
            </a:r>
            <a:endParaRPr lang="en-US" altLang="en-US" sz="1600" b="1">
              <a:solidFill>
                <a:srgbClr val="E8EBF1"/>
              </a:solidFill>
              <a:latin typeface="Segoe UI" panose="020B0502040204020203"/>
            </a:endParaRP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rgbClr val="E8EBF1"/>
                </a:solidFill>
                <a:latin typeface="Segoe UI" panose="020B0502040204020203"/>
              </a:rPr>
              <a:t>I use its Python SDK to load Qwen3.5-2B in 4-bit onto the Hexagon NPU, and I wrapped it in a small OpenAI-style server so the Arduino can call it over USB.</a:t>
            </a:r>
            <a:endParaRPr lang="en-US" altLang="en-US" sz="1600" b="1">
              <a:solidFill>
                <a:srgbClr val="E8EBF1"/>
              </a:solidFill>
              <a:latin typeface="Segoe UI" panose="020B0502040204020203"/>
            </a:endParaRP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rgbClr val="E8EBF1"/>
                </a:solidFill>
                <a:latin typeface="Segoe UI" panose="020B0502040204020203"/>
              </a:rPr>
              <a:t>It gives me the grammar feature that forces the model to output only valid commands, which is what made the agent reliable.</a:t>
            </a:r>
            <a:endParaRPr lang="en-US" altLang="en-US" sz="1600" b="1">
              <a:solidFill>
                <a:srgbClr val="E8EBF1"/>
              </a:solidFill>
              <a:latin typeface="Segoe UI" panose="020B0502040204020203"/>
            </a:endParaRP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rgbClr val="E8EBF1"/>
                </a:solidFill>
                <a:latin typeface="Segoe UI" panose="020B0502040204020203"/>
              </a:rPr>
              <a:t>It returns a profile with every answer, which chip, how fast, so the dashboard can prove the NPU is doing the work.</a:t>
            </a:r>
            <a:endParaRPr lang="en-US" altLang="en-US" sz="1600" b="1">
              <a:solidFill>
                <a:srgbClr val="E8EBF1"/>
              </a:solidFill>
              <a:latin typeface="Segoe UI" panose="020B0502040204020203"/>
            </a:endParaRP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rgbClr val="E8EBF1"/>
                </a:solidFill>
                <a:latin typeface="Segoe UI" panose="020B0502040204020203"/>
              </a:rPr>
              <a:t>It also runs the vision side: the same model answers "what is in front of me" and finds doors and windows during a room scan.</a:t>
            </a:r>
            <a:endParaRPr lang="en-US" altLang="en-US" sz="1600" b="1">
              <a:solidFill>
                <a:srgbClr val="E8EBF1"/>
              </a:solidFill>
              <a:latin typeface="Segoe UI" panose="020B0502040204020203"/>
            </a:endParaRP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rgbClr val="E8EBF1"/>
                </a:solidFill>
                <a:latin typeface="Segoe UI" panose="020B0502040204020203"/>
              </a:rPr>
              <a:t>It's portable: point it at a different device and the same code runs on a Dragonwing board with its own NPU.</a:t>
            </a:r>
            <a:endParaRPr lang="en-US" altLang="en-US" sz="1600" b="1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PEMA · Qualcomm track · AI Infra Summit Hackathon 2026 · Roshni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6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41668" y="715327"/>
            <a:ext cx="5080000" cy="85534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ts val="200"/>
              </a:spcAft>
            </a:pPr>
            <a:r>
              <a:rPr sz="2400" b="1" i="0">
                <a:solidFill>
                  <a:srgbClr val="BFBFBF"/>
                </a:solidFill>
                <a:latin typeface="Arial Black" panose="020B0A04020102020204" charset="0"/>
                <a:ea typeface="-apple-system"/>
                <a:cs typeface="Arial Black" panose="020B0A04020102020204" charset="0"/>
              </a:rPr>
              <a:t>GenieX, what it does here</a:t>
            </a:r>
            <a:endParaRPr sz="2400" b="1" i="0">
              <a:solidFill>
                <a:srgbClr val="BFBFBF"/>
              </a:solidFill>
              <a:latin typeface="Arial Black" panose="020B0A04020102020204" charset="0"/>
              <a:ea typeface="-apple-system"/>
              <a:cs typeface="Arial Black" panose="020B0A04020102020204" charset="0"/>
            </a:endParaRPr>
          </a:p>
          <a:p>
            <a:pPr marL="0" indent="0">
              <a:buFont typeface="Arial" panose="020B0604020202020204"/>
              <a:buNone/>
            </a:pPr>
            <a:endParaRPr sz="2400" b="1" i="0">
              <a:solidFill>
                <a:srgbClr val="BFBFBF"/>
              </a:solidFill>
              <a:latin typeface="Arial Black" panose="020B0A04020102020204" charset="0"/>
              <a:ea typeface="-apple-system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yste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530352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28016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E8EBF1"/>
                </a:solidFill>
                <a:latin typeface="Segoe UI" panose="020B0502040204020203"/>
              </a:rPr>
              <a:t>It notices your keys moved while you were gone, tells you, turns the light on, and proves it did.</a:t>
            </a:r>
            <a:endParaRPr sz="2600" b="1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3DDC97"/>
                </a:solidFill>
                <a:latin typeface="Segoe UI" panose="020B0502040204020203"/>
              </a:rPr>
              <a:t>Private. On-device. On Qualcomm silicon.</a:t>
            </a:r>
            <a:endParaRPr sz="2000" b="1">
              <a:solidFill>
                <a:srgbClr val="3DDC97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8B95A7"/>
                </a:solidFill>
                <a:latin typeface="Segoe UI" panose="020B0502040204020203"/>
              </a:rPr>
              <a:t>Privacy by design: frames discarded on-device, objects not faces, passphrase not biometrics, camera off switch, no cloud.</a:t>
            </a:r>
            <a:endParaRPr sz="1200" b="0">
              <a:solidFill>
                <a:srgbClr val="8B95A7"/>
              </a:solidFill>
              <a:latin typeface="Segoe UI" panose="020B0502040204020203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8B95A7"/>
                </a:solidFill>
                <a:latin typeface="Segoe UI" panose="020B0502040204020203"/>
              </a:rPr>
              <a:t>Honest limits: the UNO Q's chip has no supported NPU, so the model runs on the laptop's Hexagon; the 3D map is approximate placement from a sweep.</a:t>
            </a:r>
            <a:endParaRPr sz="12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E8EBF1"/>
                </a:solidFill>
                <a:latin typeface="Segoe UI" panose="020B0502040204020203"/>
              </a:rPr>
              <a:t>Thank you  ·  Roshni</a:t>
            </a:r>
            <a:endParaRPr sz="1800" b="1">
              <a:solidFill>
                <a:srgbClr val="E8EBF1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PEMA · Qualcomm track · AI Infra Summit Hackathon 2026 · Roshni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 panose="020B0502040204020203"/>
              </a:rPr>
              <a:t>6</a:t>
            </a:r>
            <a:endParaRPr sz="1000" b="0">
              <a:solidFill>
                <a:srgbClr val="8B95A7"/>
              </a:solidFill>
              <a:latin typeface="Segoe UI" panose="020B0502040204020203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555683" y="908367"/>
            <a:ext cx="5080000" cy="60896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ts val="200"/>
              </a:spcAft>
            </a:pPr>
            <a:r>
              <a:rPr sz="1600" b="0" i="0">
                <a:solidFill>
                  <a:srgbClr val="BFBFBF"/>
                </a:solidFill>
                <a:latin typeface="-apple-system"/>
                <a:ea typeface="-apple-system"/>
              </a:rPr>
              <a:t>GenieX, what it does here</a:t>
            </a:r>
            <a:endParaRPr sz="1600" b="0" i="0">
              <a:solidFill>
                <a:srgbClr val="BFBFBF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sz="1600" b="0" i="0">
                <a:solidFill>
                  <a:srgbClr val="BFBFBF"/>
                </a:solidFill>
                <a:latin typeface="-apple-system"/>
                <a:ea typeface="-apple-system"/>
              </a:rPr>
              <a:t>I</a:t>
            </a:r>
            <a:endParaRPr sz="1600" b="0" i="0">
              <a:solidFill>
                <a:srgbClr val="BFBFBF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6383</Words>
  <Application>WPS Presentation</Application>
  <PresentationFormat>On-screen Show (4:3)</PresentationFormat>
  <Paragraphs>202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Arial</vt:lpstr>
      <vt:lpstr>Segoe UI</vt:lpstr>
      <vt:lpstr>Calibri</vt:lpstr>
      <vt:lpstr>Microsoft YaHei</vt:lpstr>
      <vt:lpstr>Arial Unicode MS</vt:lpstr>
      <vt:lpstr>-apple-system</vt:lpstr>
      <vt:lpstr>Segoe Print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qc_de</cp:lastModifiedBy>
  <cp:revision>3</cp:revision>
  <dcterms:created xsi:type="dcterms:W3CDTF">2013-01-27T09:14:00Z</dcterms:created>
  <dcterms:modified xsi:type="dcterms:W3CDTF">2026-09-16T22:21:53Z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90FFB9BD26A84F6EB11FA1365037FEA4_12</vt:lpwstr>
  </property>
</Properties>
</file>